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  <p:sldMasterId id="2147484327" r:id="rId2"/>
  </p:sldMasterIdLst>
  <p:notesMasterIdLst>
    <p:notesMasterId r:id="rId13"/>
  </p:notesMasterIdLst>
  <p:handoutMasterIdLst>
    <p:handoutMasterId r:id="rId14"/>
  </p:handoutMasterIdLst>
  <p:sldIdLst>
    <p:sldId id="298" r:id="rId3"/>
    <p:sldId id="297" r:id="rId4"/>
    <p:sldId id="315" r:id="rId5"/>
    <p:sldId id="367" r:id="rId6"/>
    <p:sldId id="358" r:id="rId7"/>
    <p:sldId id="368" r:id="rId8"/>
    <p:sldId id="371" r:id="rId9"/>
    <p:sldId id="359" r:id="rId10"/>
    <p:sldId id="372" r:id="rId11"/>
    <p:sldId id="338" r:id="rId1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B1F95"/>
    <a:srgbClr val="629FF2"/>
    <a:srgbClr val="5899F1"/>
    <a:srgbClr val="D06553"/>
    <a:srgbClr val="FF6600"/>
    <a:srgbClr val="CC9900"/>
    <a:srgbClr val="666699"/>
    <a:srgbClr val="5B5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100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65" charset="-128"/>
              </a:defRPr>
            </a:lvl1pPr>
          </a:lstStyle>
          <a:p>
            <a:pPr>
              <a:defRPr/>
            </a:pPr>
            <a:fld id="{B85FB6D0-1685-41A0-A41A-E920F71A3764}" type="datetime1">
              <a:rPr lang="en-US" altLang="en-US"/>
              <a:pPr>
                <a:defRPr/>
              </a:pPr>
              <a:t>9/22/2020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3E7529E-5DBD-42E6-8D7D-6E75D0303B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38385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96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96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96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3AD01F4-99C4-446F-991B-DEB2E4B0A6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45078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3AD01F4-99C4-446F-991B-DEB2E4B0A614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7292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3AD01F4-99C4-446F-991B-DEB2E4B0A614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2016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A5EC0D-4418-450D-B046-6FB8B9B35603}" type="slidenum">
              <a:rPr lang="en-US" altLang="en-US" smtClean="0">
                <a:solidFill>
                  <a:srgbClr val="000000"/>
                </a:solidFill>
              </a:rPr>
              <a:pPr/>
              <a:t>10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754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cvr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9" descr="Proposed DMTF logo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434975"/>
            <a:ext cx="3200400" cy="96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447800" y="2590800"/>
            <a:ext cx="6248400" cy="838200"/>
          </a:xfrm>
        </p:spPr>
        <p:txBody>
          <a:bodyPr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6248400" cy="381000"/>
          </a:xfrm>
        </p:spPr>
        <p:txBody>
          <a:bodyPr/>
          <a:lstStyle>
            <a:lvl1pPr marL="0" indent="0" algn="ctr">
              <a:buFont typeface="Times" pitchFamily="48" charset="0"/>
              <a:buNone/>
              <a:defRPr sz="1500" b="1">
                <a:solidFill>
                  <a:srgbClr val="5B5B5B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16144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94ABE9-AA21-48DE-A907-2071B71134DF}" type="datetime1">
              <a:rPr lang="en-US" altLang="en-US"/>
              <a:pPr>
                <a:defRPr/>
              </a:pPr>
              <a:t>9/22/2020</a:t>
            </a:fld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6706A5-454B-4595-A4F6-79AF1E9F46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0706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A7B2E0-19DD-49D1-918D-B2DC07ADA02E}" type="datetime1">
              <a:rPr lang="en-US" altLang="en-US"/>
              <a:pPr>
                <a:defRPr/>
              </a:pPr>
              <a:t>9/22/2020</a:t>
            </a:fld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9CF623-C1DB-4FA6-AA36-6A1E6D19DD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5849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1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801952-CC4A-4C99-8274-C1311543B609}" type="datetime1">
              <a:rPr lang="en-US" altLang="en-US"/>
              <a:pPr>
                <a:defRPr/>
              </a:pPr>
              <a:t>9/22/2020</a:t>
            </a:fld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D38A1C-3EF1-4FEC-B2A1-1BD6DF1C94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8061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5DEF4D-B5F3-4EC0-B746-B4AB7A1BD439}" type="datetime1">
              <a:rPr lang="en-US" altLang="en-US"/>
              <a:pPr>
                <a:defRPr/>
              </a:pPr>
              <a:t>9/22/2020</a:t>
            </a:fld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757309-CCBA-4993-A603-7A776443FA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6994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D4C84D-4725-4D7B-815B-C44A68AD6270}" type="datetime1">
              <a:rPr lang="en-US" altLang="en-US"/>
              <a:pPr>
                <a:defRPr/>
              </a:pPr>
              <a:t>9/22/2020</a:t>
            </a:fld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59547-25A2-4D01-8524-7D768150B6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9580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43912B-1DE3-4258-BBE7-1DD522252C99}" type="datetime1">
              <a:rPr lang="en-US" altLang="en-US"/>
              <a:pPr>
                <a:defRPr/>
              </a:pPr>
              <a:t>9/22/2020</a:t>
            </a:fld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5B22EC-B6A8-4671-B865-7F09AABA2F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8349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FE826F-0978-46EC-A438-E0326F8A8342}" type="datetime1">
              <a:rPr lang="en-US" altLang="en-US"/>
              <a:pPr>
                <a:defRPr/>
              </a:pPr>
              <a:t>9/22/2020</a:t>
            </a:fld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0DDC53-54F6-4FBA-B1DE-785295D7F6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0929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41C99F-6B50-43CD-88AA-D3ABC683DD56}" type="datetime1">
              <a:rPr lang="en-US" altLang="en-US"/>
              <a:pPr>
                <a:defRPr/>
              </a:pPr>
              <a:t>9/22/2020</a:t>
            </a:fld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3B912B-3AC9-4509-8D3A-A7BEC09073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3921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A59454-E408-4BA6-86D5-1E2C7340A538}" type="datetime1">
              <a:rPr lang="en-US" altLang="en-US"/>
              <a:pPr>
                <a:defRPr/>
              </a:pPr>
              <a:t>9/22/2020</a:t>
            </a:fld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38E736-5E9C-4948-852F-69CDDF0B40F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603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914400"/>
            <a:ext cx="21336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914400"/>
            <a:ext cx="62484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E4BB4B-CD0A-4C53-B41C-256A7D720E5B}" type="datetime1">
              <a:rPr lang="en-US" altLang="en-US"/>
              <a:pPr>
                <a:defRPr/>
              </a:pPr>
              <a:t>9/22/2020</a:t>
            </a:fld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50AD0D-5FC7-48E9-95D0-0131CB8EA5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4926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914400"/>
            <a:ext cx="85344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600200"/>
            <a:ext cx="41910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10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FC4990-1754-4CF2-AF26-A0CC54FB2B54}" type="datetime1">
              <a:rPr lang="en-US" altLang="en-US"/>
              <a:pPr>
                <a:defRPr/>
              </a:pPr>
              <a:t>9/22/2020</a:t>
            </a:fld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79EE6C-C362-40EF-A028-9C4AC47362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7746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harts with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/>
          <p:cNvSpPr>
            <a:spLocks noGrp="1"/>
          </p:cNvSpPr>
          <p:nvPr>
            <p:ph type="title"/>
          </p:nvPr>
        </p:nvSpPr>
        <p:spPr bwMode="black">
          <a:xfrm>
            <a:off x="331473" y="313429"/>
            <a:ext cx="8460105" cy="430887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lang="en-US" sz="2800" b="1" i="0" kern="1200" noProof="0" dirty="0">
                <a:solidFill>
                  <a:schemeClr val="tx1"/>
                </a:solidFill>
                <a:latin typeface="HP Simplified" pitchFamily="34" charset="0"/>
                <a:ea typeface="+mj-ea"/>
                <a:cs typeface="HP Simplified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5" name="Content Placeholder 5"/>
          <p:cNvSpPr>
            <a:spLocks noGrp="1"/>
          </p:cNvSpPr>
          <p:nvPr>
            <p:ph sz="quarter" idx="10"/>
          </p:nvPr>
        </p:nvSpPr>
        <p:spPr>
          <a:xfrm>
            <a:off x="329185" y="1306265"/>
            <a:ext cx="4046873" cy="3899895"/>
          </a:xfrm>
        </p:spPr>
        <p:txBody>
          <a:bodyPr>
            <a:noAutofit/>
          </a:bodyPr>
          <a:lstStyle>
            <a:lvl1pPr marL="168275" indent="-168275">
              <a:spcAft>
                <a:spcPts val="600"/>
              </a:spcAft>
              <a:buFont typeface="Arial" pitchFamily="34" charset="0"/>
              <a:buChar char="•"/>
              <a:defRPr b="0">
                <a:solidFill>
                  <a:schemeClr val="tx1"/>
                </a:solidFill>
              </a:defRPr>
            </a:lvl1pPr>
            <a:lvl2pPr marL="401638" indent="-168275">
              <a:spcAft>
                <a:spcPts val="600"/>
              </a:spcAft>
              <a:buFont typeface="HP Simplified" pitchFamily="34" charset="0"/>
              <a:buChar char="–"/>
              <a:defRPr>
                <a:solidFill>
                  <a:srgbClr val="000000"/>
                </a:solidFill>
              </a:defRPr>
            </a:lvl2pPr>
            <a:lvl3pPr marL="571500" indent="-169863">
              <a:spcAft>
                <a:spcPts val="600"/>
              </a:spcAft>
              <a:defRPr>
                <a:solidFill>
                  <a:srgbClr val="000000"/>
                </a:solidFill>
              </a:defRPr>
            </a:lvl3pPr>
            <a:lvl4pPr marL="742950" indent="-180975">
              <a:spcAft>
                <a:spcPts val="600"/>
              </a:spcAft>
              <a:defRPr>
                <a:solidFill>
                  <a:srgbClr val="000000"/>
                </a:solidFill>
              </a:defRPr>
            </a:lvl4pPr>
            <a:lvl5pPr marL="914400" indent="-138113">
              <a:spcAft>
                <a:spcPts val="600"/>
              </a:spcAft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7"/>
          </p:nvPr>
        </p:nvSpPr>
        <p:spPr>
          <a:xfrm>
            <a:off x="4546622" y="1306265"/>
            <a:ext cx="4046873" cy="3899895"/>
          </a:xfrm>
        </p:spPr>
        <p:txBody>
          <a:bodyPr>
            <a:noAutofit/>
          </a:bodyPr>
          <a:lstStyle>
            <a:lvl1pPr marL="168275" indent="-168275">
              <a:spcAft>
                <a:spcPts val="600"/>
              </a:spcAft>
              <a:buFont typeface="Arial" pitchFamily="34" charset="0"/>
              <a:buChar char="•"/>
              <a:defRPr b="0">
                <a:solidFill>
                  <a:schemeClr val="tx1"/>
                </a:solidFill>
              </a:defRPr>
            </a:lvl1pPr>
            <a:lvl2pPr marL="401638" indent="-168275">
              <a:spcAft>
                <a:spcPts val="600"/>
              </a:spcAft>
              <a:buFont typeface="HP Simplified" pitchFamily="34" charset="0"/>
              <a:buChar char="–"/>
              <a:defRPr>
                <a:solidFill>
                  <a:srgbClr val="000000"/>
                </a:solidFill>
              </a:defRPr>
            </a:lvl2pPr>
            <a:lvl3pPr marL="571500" indent="-169863">
              <a:spcAft>
                <a:spcPts val="600"/>
              </a:spcAft>
              <a:defRPr>
                <a:solidFill>
                  <a:srgbClr val="000000"/>
                </a:solidFill>
              </a:defRPr>
            </a:lvl3pPr>
            <a:lvl4pPr marL="742950" indent="-180975">
              <a:spcAft>
                <a:spcPts val="600"/>
              </a:spcAft>
              <a:defRPr>
                <a:solidFill>
                  <a:srgbClr val="000000"/>
                </a:solidFill>
              </a:defRPr>
            </a:lvl4pPr>
            <a:lvl5pPr marL="914400" indent="-138113">
              <a:spcAft>
                <a:spcPts val="600"/>
              </a:spcAft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29226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45449015"/>
      </p:ext>
    </p:extLst>
  </p:cSld>
  <p:clrMapOvr>
    <a:masterClrMapping/>
  </p:clrMapOvr>
  <p:transition spd="med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1155-A8EB-C847-9446-78BAE89F0B18}" type="datetimeFigureOut">
              <a:rPr lang="en-US" smtClean="0"/>
              <a:pPr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BE310-0F2B-9C49-A351-349158B8F1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368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1155-A8EB-C847-9446-78BAE89F0B18}" type="datetimeFigureOut">
              <a:rPr lang="en-US" smtClean="0"/>
              <a:pPr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BE310-0F2B-9C49-A351-349158B8F1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295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1155-A8EB-C847-9446-78BAE89F0B18}" type="datetimeFigureOut">
              <a:rPr lang="en-US" smtClean="0"/>
              <a:pPr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BE310-0F2B-9C49-A351-349158B8F1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9759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1155-A8EB-C847-9446-78BAE89F0B18}" type="datetimeFigureOut">
              <a:rPr lang="en-US" smtClean="0"/>
              <a:pPr/>
              <a:t>9/22/2020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BE310-0F2B-9C49-A351-349158B8F1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9330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1155-A8EB-C847-9446-78BAE89F0B18}" type="datetimeFigureOut">
              <a:rPr lang="en-US" smtClean="0"/>
              <a:pPr/>
              <a:t>9/22/2020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BE310-0F2B-9C49-A351-349158B8F1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174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1155-A8EB-C847-9446-78BAE89F0B18}" type="datetimeFigureOut">
              <a:rPr lang="en-US" smtClean="0"/>
              <a:pPr/>
              <a:t>9/22/2020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BE310-0F2B-9C49-A351-349158B8F1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4104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1155-A8EB-C847-9446-78BAE89F0B18}" type="datetimeFigureOut">
              <a:rPr lang="en-US" smtClean="0"/>
              <a:pPr/>
              <a:t>9/22/2020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BE310-0F2B-9C49-A351-349158B8F1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8591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1155-A8EB-C847-9446-78BAE89F0B18}" type="datetimeFigureOut">
              <a:rPr lang="en-US" smtClean="0"/>
              <a:pPr/>
              <a:t>9/22/2020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BE310-0F2B-9C49-A351-349158B8F1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9162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1155-A8EB-C847-9446-78BAE89F0B18}" type="datetimeFigureOut">
              <a:rPr lang="en-US" smtClean="0"/>
              <a:pPr/>
              <a:t>9/22/2020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BE310-0F2B-9C49-A351-349158B8F1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738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1155-A8EB-C847-9446-78BAE89F0B18}" type="datetimeFigureOut">
              <a:rPr lang="en-US" smtClean="0"/>
              <a:pPr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BE310-0F2B-9C49-A351-349158B8F1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176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1155-A8EB-C847-9446-78BAE89F0B18}" type="datetimeFigureOut">
              <a:rPr lang="en-US" smtClean="0"/>
              <a:pPr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BE310-0F2B-9C49-A351-349158B8F1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859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basic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50"/>
            <a:ext cx="9145588" cy="687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914400"/>
            <a:ext cx="8534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600200"/>
            <a:ext cx="8534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477000"/>
            <a:ext cx="2514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>
                <a:solidFill>
                  <a:srgbClr val="1B1F95"/>
                </a:solidFill>
                <a:latin typeface="Arial" charset="0"/>
                <a:ea typeface="ＭＳ Ｐゴシック" pitchFamily="-65" charset="-128"/>
              </a:defRPr>
            </a:lvl1pPr>
          </a:lstStyle>
          <a:p>
            <a:pPr>
              <a:defRPr/>
            </a:pPr>
            <a:fld id="{99E51379-D3EF-4E5D-9373-E1F0CC05D8A0}" type="datetime1">
              <a:rPr lang="en-US" altLang="en-US"/>
              <a:pPr>
                <a:defRPr/>
              </a:pPr>
              <a:t>9/22/2020</a:t>
            </a:fld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477000"/>
            <a:ext cx="4191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900">
                <a:solidFill>
                  <a:srgbClr val="1B1F95"/>
                </a:solidFill>
                <a:latin typeface="Arial" charset="0"/>
                <a:ea typeface="ＭＳ Ｐゴシック" pitchFamily="96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477000"/>
            <a:ext cx="1828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 b="1">
                <a:solidFill>
                  <a:srgbClr val="1B1F95"/>
                </a:solidFill>
              </a:defRPr>
            </a:lvl1pPr>
          </a:lstStyle>
          <a:p>
            <a:pPr>
              <a:defRPr/>
            </a:pPr>
            <a:fld id="{AC2E45B4-0E6E-427B-9958-CE5E170B83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2" name="Picture 4" descr="Proposed DMTF logo.eps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90488"/>
            <a:ext cx="1981200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l"/>
          <p:cNvSpPr txBox="1"/>
          <p:nvPr userDrawn="1"/>
        </p:nvSpPr>
        <p:spPr>
          <a:xfrm>
            <a:off x="0" y="6428740"/>
            <a:ext cx="914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24" r:id="rId1"/>
    <p:sldLayoutId id="2147484313" r:id="rId2"/>
    <p:sldLayoutId id="2147484314" r:id="rId3"/>
    <p:sldLayoutId id="2147484315" r:id="rId4"/>
    <p:sldLayoutId id="2147484316" r:id="rId5"/>
    <p:sldLayoutId id="2147484317" r:id="rId6"/>
    <p:sldLayoutId id="2147484318" r:id="rId7"/>
    <p:sldLayoutId id="2147484319" r:id="rId8"/>
    <p:sldLayoutId id="2147484320" r:id="rId9"/>
    <p:sldLayoutId id="2147484321" r:id="rId10"/>
    <p:sldLayoutId id="2147484322" r:id="rId11"/>
    <p:sldLayoutId id="2147484323" r:id="rId12"/>
    <p:sldLayoutId id="2147484325" r:id="rId13"/>
    <p:sldLayoutId id="2147484326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1B1F95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1B1F95"/>
          </a:solidFill>
          <a:latin typeface="Arial" charset="0"/>
          <a:ea typeface="ＭＳ Ｐゴシック" pitchFamily="48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1B1F95"/>
          </a:solidFill>
          <a:latin typeface="Arial" charset="0"/>
          <a:ea typeface="ＭＳ Ｐゴシック" pitchFamily="48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1B1F95"/>
          </a:solidFill>
          <a:latin typeface="Arial" charset="0"/>
          <a:ea typeface="ＭＳ Ｐゴシック" pitchFamily="48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1B1F95"/>
          </a:solidFill>
          <a:latin typeface="Arial" charset="0"/>
          <a:ea typeface="ＭＳ Ｐゴシック" pitchFamily="48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rgbClr val="1B1F95"/>
          </a:solidFill>
          <a:latin typeface="Arial" charset="0"/>
          <a:ea typeface="ＭＳ Ｐゴシック" pitchFamily="48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rgbClr val="1B1F95"/>
          </a:solidFill>
          <a:latin typeface="Arial" charset="0"/>
          <a:ea typeface="ＭＳ Ｐゴシック" pitchFamily="48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rgbClr val="1B1F95"/>
          </a:solidFill>
          <a:latin typeface="Arial" charset="0"/>
          <a:ea typeface="ＭＳ Ｐゴシック" pitchFamily="48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rgbClr val="1B1F95"/>
          </a:solidFill>
          <a:latin typeface="Arial" charset="0"/>
          <a:ea typeface="ＭＳ Ｐゴシック" pitchFamily="4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Times" panose="02020603050405020304" pitchFamily="18" charset="0"/>
        <a:buChar char="•"/>
        <a:defRPr sz="2000">
          <a:solidFill>
            <a:srgbClr val="1B1F95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Times" panose="02020603050405020304" pitchFamily="18" charset="0"/>
        <a:buChar char="•"/>
        <a:defRPr>
          <a:solidFill>
            <a:srgbClr val="5B5B5B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Times" panose="02020603050405020304" pitchFamily="18" charset="0"/>
        <a:buChar char="•"/>
        <a:defRPr sz="1600">
          <a:solidFill>
            <a:srgbClr val="1B1F95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Times" panose="02020603050405020304" pitchFamily="18" charset="0"/>
        <a:buChar char="•"/>
        <a:defRPr sz="1400">
          <a:solidFill>
            <a:srgbClr val="5B5B5B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Times" panose="02020603050405020304" pitchFamily="18" charset="0"/>
        <a:buChar char="•"/>
        <a:defRPr sz="1400">
          <a:solidFill>
            <a:srgbClr val="1B1F95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Times" pitchFamily="48" charset="0"/>
        <a:buChar char="•"/>
        <a:defRPr sz="1400">
          <a:solidFill>
            <a:srgbClr val="1B1F95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Times" pitchFamily="48" charset="0"/>
        <a:buChar char="•"/>
        <a:defRPr sz="1400">
          <a:solidFill>
            <a:srgbClr val="1B1F95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Times" pitchFamily="48" charset="0"/>
        <a:buChar char="•"/>
        <a:defRPr sz="1400">
          <a:solidFill>
            <a:srgbClr val="1B1F95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Times" pitchFamily="48" charset="0"/>
        <a:buChar char="•"/>
        <a:defRPr sz="1400">
          <a:solidFill>
            <a:srgbClr val="1B1F95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A1155-A8EB-C847-9446-78BAE89F0B18}" type="datetimeFigureOut">
              <a:rPr lang="en-US" smtClean="0"/>
              <a:pPr/>
              <a:t>9/22/2020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BE310-0F2B-9C49-A351-349158B8F1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64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8" r:id="rId1"/>
    <p:sldLayoutId id="2147484329" r:id="rId2"/>
    <p:sldLayoutId id="2147484330" r:id="rId3"/>
    <p:sldLayoutId id="2147484331" r:id="rId4"/>
    <p:sldLayoutId id="2147484332" r:id="rId5"/>
    <p:sldLayoutId id="2147484333" r:id="rId6"/>
    <p:sldLayoutId id="2147484334" r:id="rId7"/>
    <p:sldLayoutId id="2147484335" r:id="rId8"/>
    <p:sldLayoutId id="2147484336" r:id="rId9"/>
    <p:sldLayoutId id="2147484337" r:id="rId10"/>
    <p:sldLayoutId id="2147484338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://redfishforum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4920" y="2130425"/>
            <a:ext cx="6272393" cy="1470025"/>
          </a:xfrm>
        </p:spPr>
        <p:txBody>
          <a:bodyPr/>
          <a:lstStyle/>
          <a:p>
            <a:r>
              <a:rPr lang="en-US" dirty="0"/>
              <a:t>Firmware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1729" y="3580572"/>
            <a:ext cx="6272393" cy="1608840"/>
          </a:xfrm>
        </p:spPr>
        <p:txBody>
          <a:bodyPr/>
          <a:lstStyle/>
          <a:p>
            <a:r>
              <a:rPr lang="en-US" dirty="0"/>
              <a:t>John Leung</a:t>
            </a:r>
          </a:p>
          <a:p>
            <a:r>
              <a:rPr lang="en-US" dirty="0"/>
              <a:t>Intel Corporation</a:t>
            </a:r>
          </a:p>
        </p:txBody>
      </p:sp>
    </p:spTree>
    <p:extLst>
      <p:ext uri="{BB962C8B-B14F-4D97-AF65-F5344CB8AC3E}">
        <p14:creationId xmlns:p14="http://schemas.microsoft.com/office/powerpoint/2010/main" val="3222653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Agenda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DBAA0D46-BC41-4D8E-B251-419F04B4D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668" y="980310"/>
            <a:ext cx="3132732" cy="220814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B35F41AB-B21F-4699-AEF7-733C9F194C63}"/>
              </a:ext>
            </a:extLst>
          </p:cNvPr>
          <p:cNvSpPr txBox="1">
            <a:spLocks/>
          </p:cNvSpPr>
          <p:nvPr/>
        </p:nvSpPr>
        <p:spPr>
          <a:xfrm>
            <a:off x="609600" y="1681018"/>
            <a:ext cx="8229600" cy="449118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>
                <a:solidFill>
                  <a:srgbClr val="1B1F95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>
                <a:solidFill>
                  <a:srgbClr val="5B5B5B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1600">
                <a:solidFill>
                  <a:srgbClr val="1B1F95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1400">
                <a:solidFill>
                  <a:srgbClr val="5B5B5B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1400">
                <a:solidFill>
                  <a:srgbClr val="1B1F95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48" charset="0"/>
              <a:buChar char="•"/>
              <a:defRPr sz="1400">
                <a:solidFill>
                  <a:srgbClr val="1B1F95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48" charset="0"/>
              <a:buChar char="•"/>
              <a:defRPr sz="1400">
                <a:solidFill>
                  <a:srgbClr val="1B1F95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48" charset="0"/>
              <a:buChar char="•"/>
              <a:defRPr sz="1400">
                <a:solidFill>
                  <a:srgbClr val="1B1F95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48" charset="0"/>
              <a:buChar char="•"/>
              <a:defRPr sz="1400">
                <a:solidFill>
                  <a:srgbClr val="1B1F95"/>
                </a:solidFill>
                <a:latin typeface="+mn-lt"/>
                <a:ea typeface="+mn-ea"/>
              </a:defRPr>
            </a:lvl9pPr>
          </a:lstStyle>
          <a:p>
            <a:r>
              <a:rPr lang="en-US" sz="2400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Firmware Update Model</a:t>
            </a:r>
          </a:p>
          <a:p>
            <a:pPr lvl="1"/>
            <a:r>
              <a:rPr lang="en-US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Update Service</a:t>
            </a:r>
          </a:p>
          <a:p>
            <a:pPr lvl="1"/>
            <a:r>
              <a:rPr lang="en-US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Firmware Inventory</a:t>
            </a:r>
          </a:p>
          <a:p>
            <a:r>
              <a:rPr lang="en-US" sz="2400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Simple Update - pull update</a:t>
            </a:r>
          </a:p>
          <a:p>
            <a:r>
              <a:rPr lang="en-US" sz="2400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Multi-part HTTP Push Update</a:t>
            </a:r>
          </a:p>
          <a:p>
            <a:r>
              <a:rPr lang="en-US" sz="2400" kern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Unstructured HTTP Push Update</a:t>
            </a:r>
            <a:endParaRPr lang="en-US" sz="2000" kern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/>
            <a:endParaRPr 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3047334697"/>
      </p:ext>
    </p:extLst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Redfish Firmware Update Model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56335" y="1642066"/>
            <a:ext cx="5546273" cy="3352800"/>
          </a:xfrm>
        </p:spPr>
        <p:txBody>
          <a:bodyPr/>
          <a:lstStyle/>
          <a:p>
            <a:r>
              <a:rPr lang="en-US" sz="2400" dirty="0"/>
              <a:t>Update Service</a:t>
            </a:r>
          </a:p>
          <a:p>
            <a:pPr lvl="1"/>
            <a:r>
              <a:rPr lang="en-US" sz="2000" dirty="0"/>
              <a:t>The service for updating firmware</a:t>
            </a:r>
          </a:p>
          <a:p>
            <a:pPr lvl="1"/>
            <a:r>
              <a:rPr lang="en-US" sz="2000" dirty="0"/>
              <a:t>Firmware updates are accomplished by invoking actions on the Update Service</a:t>
            </a:r>
          </a:p>
          <a:p>
            <a:r>
              <a:rPr lang="en-US" sz="2400" dirty="0"/>
              <a:t>Firmware Inventory</a:t>
            </a:r>
          </a:p>
          <a:p>
            <a:pPr lvl="1"/>
            <a:r>
              <a:rPr lang="en-US" sz="2000" dirty="0"/>
              <a:t>Software components generally referred to as platform firmware </a:t>
            </a:r>
          </a:p>
          <a:p>
            <a:r>
              <a:rPr lang="en-US" sz="2400" dirty="0"/>
              <a:t>Software Inventory</a:t>
            </a:r>
          </a:p>
          <a:p>
            <a:pPr lvl="1"/>
            <a:r>
              <a:rPr lang="en-US" sz="2000" dirty="0"/>
              <a:t>Software components executed in the context of a host operating system</a:t>
            </a:r>
          </a:p>
          <a:p>
            <a:pPr lvl="1"/>
            <a:r>
              <a:rPr lang="en-US" sz="2000" dirty="0"/>
              <a:t>Such as device drivers, applications, or offload workloads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xmlns="" id="{467CD712-64BB-4E9C-8851-A433CC3D7523}"/>
              </a:ext>
            </a:extLst>
          </p:cNvPr>
          <p:cNvSpPr/>
          <p:nvPr/>
        </p:nvSpPr>
        <p:spPr>
          <a:xfrm>
            <a:off x="6893312" y="2811181"/>
            <a:ext cx="1171521" cy="63527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xmlns="" id="{AFBCA43C-2C11-443F-801A-23E1FA70FF34}"/>
              </a:ext>
            </a:extLst>
          </p:cNvPr>
          <p:cNvSpPr/>
          <p:nvPr/>
        </p:nvSpPr>
        <p:spPr>
          <a:xfrm>
            <a:off x="6406129" y="3787766"/>
            <a:ext cx="967394" cy="11248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525E9489-0ADB-4FE7-969D-CE1ED2E98F98}"/>
              </a:ext>
            </a:extLst>
          </p:cNvPr>
          <p:cNvSpPr txBox="1"/>
          <p:nvPr/>
        </p:nvSpPr>
        <p:spPr>
          <a:xfrm>
            <a:off x="6843395" y="2983334"/>
            <a:ext cx="1249622" cy="25391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Update Service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xmlns="" id="{66D0DDE9-D719-46E0-BC8C-3BF4C7996295}"/>
              </a:ext>
            </a:extLst>
          </p:cNvPr>
          <p:cNvSpPr/>
          <p:nvPr/>
        </p:nvSpPr>
        <p:spPr>
          <a:xfrm>
            <a:off x="6872333" y="1674492"/>
            <a:ext cx="1171521" cy="56650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Service Root</a:t>
            </a:r>
          </a:p>
        </p:txBody>
      </p:sp>
      <p:cxnSp>
        <p:nvCxnSpPr>
          <p:cNvPr id="41" name="Straight Arrow Connector 22">
            <a:extLst>
              <a:ext uri="{FF2B5EF4-FFF2-40B4-BE49-F238E27FC236}">
                <a16:creationId xmlns:a16="http://schemas.microsoft.com/office/drawing/2014/main" xmlns="" id="{758CD926-449F-46B7-872B-5594D1C79B9C}"/>
              </a:ext>
            </a:extLst>
          </p:cNvPr>
          <p:cNvCxnSpPr>
            <a:cxnSpLocks/>
            <a:stCxn id="38" idx="4"/>
            <a:endCxn id="34" idx="0"/>
          </p:cNvCxnSpPr>
          <p:nvPr/>
        </p:nvCxnSpPr>
        <p:spPr>
          <a:xfrm rot="16200000" flipH="1">
            <a:off x="7183493" y="2515601"/>
            <a:ext cx="570180" cy="20979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FF9F5B94-0304-4584-81BC-8CAB206E091E}"/>
              </a:ext>
            </a:extLst>
          </p:cNvPr>
          <p:cNvSpPr txBox="1"/>
          <p:nvPr/>
        </p:nvSpPr>
        <p:spPr>
          <a:xfrm>
            <a:off x="6251722" y="3883159"/>
            <a:ext cx="1328576" cy="350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defRPr/>
            </a:pPr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Firmware Inventory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xmlns="" id="{DB738C99-6E6A-465F-AECC-72F791399AF4}"/>
              </a:ext>
            </a:extLst>
          </p:cNvPr>
          <p:cNvSpPr/>
          <p:nvPr/>
        </p:nvSpPr>
        <p:spPr>
          <a:xfrm>
            <a:off x="6550549" y="4657441"/>
            <a:ext cx="678553" cy="35460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NIC 1.5</a:t>
            </a:r>
          </a:p>
        </p:txBody>
      </p:sp>
      <p:cxnSp>
        <p:nvCxnSpPr>
          <p:cNvPr id="53" name="Straight Arrow Connector 22">
            <a:extLst>
              <a:ext uri="{FF2B5EF4-FFF2-40B4-BE49-F238E27FC236}">
                <a16:creationId xmlns:a16="http://schemas.microsoft.com/office/drawing/2014/main" xmlns="" id="{1A861C27-04B0-4F50-96E8-7EC9701AB8E8}"/>
              </a:ext>
            </a:extLst>
          </p:cNvPr>
          <p:cNvCxnSpPr>
            <a:cxnSpLocks/>
            <a:stCxn id="34" idx="4"/>
            <a:endCxn id="35" idx="0"/>
          </p:cNvCxnSpPr>
          <p:nvPr/>
        </p:nvCxnSpPr>
        <p:spPr>
          <a:xfrm rot="5400000">
            <a:off x="7013797" y="3322490"/>
            <a:ext cx="341306" cy="589247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xmlns="" id="{1F49A70C-BA66-4DA5-861D-BD908F0B28A6}"/>
              </a:ext>
            </a:extLst>
          </p:cNvPr>
          <p:cNvSpPr/>
          <p:nvPr/>
        </p:nvSpPr>
        <p:spPr>
          <a:xfrm>
            <a:off x="7665032" y="3784244"/>
            <a:ext cx="967394" cy="11248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ADF45385-5322-4E3A-85D8-CFA3E9438E32}"/>
              </a:ext>
            </a:extLst>
          </p:cNvPr>
          <p:cNvSpPr txBox="1"/>
          <p:nvPr/>
        </p:nvSpPr>
        <p:spPr>
          <a:xfrm>
            <a:off x="7510624" y="3879637"/>
            <a:ext cx="1328576" cy="350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defRPr/>
            </a:pPr>
            <a:r>
              <a:rPr lang="en-US" sz="1050" b="1" dirty="0">
                <a:cs typeface="Arial" panose="020B0604020202020204" pitchFamily="34" charset="0"/>
              </a:rPr>
              <a:t>Software</a:t>
            </a:r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 Inventory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xmlns="" id="{A3314760-DF77-4D4C-AB3F-E1F78D6AFC45}"/>
              </a:ext>
            </a:extLst>
          </p:cNvPr>
          <p:cNvSpPr/>
          <p:nvPr/>
        </p:nvSpPr>
        <p:spPr>
          <a:xfrm>
            <a:off x="8116134" y="4686255"/>
            <a:ext cx="545391" cy="3086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SW-1</a:t>
            </a:r>
          </a:p>
        </p:txBody>
      </p:sp>
      <p:cxnSp>
        <p:nvCxnSpPr>
          <p:cNvPr id="62" name="Straight Arrow Connector 22">
            <a:extLst>
              <a:ext uri="{FF2B5EF4-FFF2-40B4-BE49-F238E27FC236}">
                <a16:creationId xmlns:a16="http://schemas.microsoft.com/office/drawing/2014/main" xmlns="" id="{A37452DC-10AA-4491-B122-2D12810789FE}"/>
              </a:ext>
            </a:extLst>
          </p:cNvPr>
          <p:cNvCxnSpPr>
            <a:cxnSpLocks/>
            <a:stCxn id="34" idx="4"/>
            <a:endCxn id="55" idx="0"/>
          </p:cNvCxnSpPr>
          <p:nvPr/>
        </p:nvCxnSpPr>
        <p:spPr>
          <a:xfrm rot="16200000" flipH="1">
            <a:off x="7645009" y="3280524"/>
            <a:ext cx="337784" cy="669656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xmlns="" id="{A63BAA4C-CCA8-440D-8A3D-FAD166497DF9}"/>
              </a:ext>
            </a:extLst>
          </p:cNvPr>
          <p:cNvSpPr/>
          <p:nvPr/>
        </p:nvSpPr>
        <p:spPr>
          <a:xfrm>
            <a:off x="6124881" y="4301441"/>
            <a:ext cx="597877" cy="29096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BMC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xmlns="" id="{05448E62-045B-4E00-B29F-F740686F4198}"/>
              </a:ext>
            </a:extLst>
          </p:cNvPr>
          <p:cNvSpPr/>
          <p:nvPr/>
        </p:nvSpPr>
        <p:spPr>
          <a:xfrm>
            <a:off x="6889825" y="4201199"/>
            <a:ext cx="597877" cy="29096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BIOS</a:t>
            </a:r>
          </a:p>
        </p:txBody>
      </p:sp>
    </p:spTree>
    <p:extLst>
      <p:ext uri="{BB962C8B-B14F-4D97-AF65-F5344CB8AC3E}">
        <p14:creationId xmlns:p14="http://schemas.microsoft.com/office/powerpoint/2010/main" val="2133116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BEE2B18F-1AEF-4F40-AA33-54BB5EE23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Firmware Package Transfer Methods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F16A53FF-E264-4F16-B998-E3CE27459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Pull update</a:t>
            </a:r>
          </a:p>
          <a:p>
            <a:pPr lvl="1"/>
            <a:r>
              <a:rPr lang="en-US" sz="2400" dirty="0"/>
              <a:t>The Redfish service is provided a URI from which to obtain the firmware update package</a:t>
            </a:r>
          </a:p>
          <a:p>
            <a:pPr lvl="1"/>
            <a:r>
              <a:rPr lang="en-US" sz="2400" dirty="0"/>
              <a:t>Also known as simple update</a:t>
            </a:r>
          </a:p>
          <a:p>
            <a:r>
              <a:rPr lang="en-US" sz="2800" dirty="0"/>
              <a:t>Push update</a:t>
            </a:r>
          </a:p>
          <a:p>
            <a:pPr lvl="1"/>
            <a:r>
              <a:rPr lang="en-US" sz="2400" dirty="0"/>
              <a:t>The Redfish service is provided the firmware update package as part of the action request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C8FB49A8-0F04-4C30-A430-66AE1F068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59547-25A2-4D01-8524-7D768150B6FD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2557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Simple Update - pull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FED6F1-A72A-484D-80A4-F7DA49B68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Below is the fragment present in the </a:t>
            </a:r>
            <a:r>
              <a:rPr lang="en-US" dirty="0" err="1"/>
              <a:t>UpdateService</a:t>
            </a:r>
            <a:r>
              <a:rPr lang="en-US" dirty="0"/>
              <a:t> resource when </a:t>
            </a:r>
            <a:r>
              <a:rPr lang="en-US" dirty="0" err="1"/>
              <a:t>SimpleUpdate</a:t>
            </a:r>
            <a:r>
              <a:rPr lang="en-US" dirty="0"/>
              <a:t> action is supported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'target' property specifies the target of the HTTP POST</a:t>
            </a:r>
          </a:p>
          <a:p>
            <a:r>
              <a:rPr lang="en-US" dirty="0"/>
              <a:t>The </a:t>
            </a:r>
            <a:r>
              <a:rPr lang="en-US" dirty="0" err="1"/>
              <a:t>SimpleUpdateActionInfo</a:t>
            </a:r>
            <a:r>
              <a:rPr lang="en-US" dirty="0"/>
              <a:t> describes the parameters that can be included in the HTTP POST message</a:t>
            </a:r>
          </a:p>
        </p:txBody>
      </p:sp>
      <p:sp>
        <p:nvSpPr>
          <p:cNvPr id="2" name="Rectangle 1"/>
          <p:cNvSpPr/>
          <p:nvPr/>
        </p:nvSpPr>
        <p:spPr>
          <a:xfrm>
            <a:off x="609600" y="2438400"/>
            <a:ext cx="7848600" cy="1384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defTabSz="230188"/>
            <a:r>
              <a:rPr lang="en-US" sz="1200" dirty="0"/>
              <a:t>{</a:t>
            </a:r>
          </a:p>
          <a:p>
            <a:pPr defTabSz="230188"/>
            <a:r>
              <a:rPr lang="en-US" sz="1200" dirty="0"/>
              <a:t>	"Actions": {</a:t>
            </a:r>
          </a:p>
          <a:p>
            <a:pPr defTabSz="230188"/>
            <a:r>
              <a:rPr lang="en-US" sz="1200" dirty="0"/>
              <a:t>        	"#</a:t>
            </a:r>
            <a:r>
              <a:rPr lang="en-US" sz="1200" dirty="0" err="1"/>
              <a:t>UpdateService.SimpleUpdate</a:t>
            </a:r>
            <a:r>
              <a:rPr lang="en-US" sz="1200" dirty="0"/>
              <a:t>": {</a:t>
            </a:r>
          </a:p>
          <a:p>
            <a:pPr defTabSz="230188"/>
            <a:r>
              <a:rPr lang="en-US" sz="1200" dirty="0"/>
              <a:t>            	"target": "/redfish/v1/</a:t>
            </a:r>
            <a:r>
              <a:rPr lang="en-US" sz="1200" dirty="0" err="1"/>
              <a:t>UpdateService</a:t>
            </a:r>
            <a:r>
              <a:rPr lang="en-US" sz="1200" dirty="0"/>
              <a:t>/Actions/</a:t>
            </a:r>
            <a:r>
              <a:rPr lang="en-US" sz="1200" dirty="0" err="1"/>
              <a:t>SimpleUpdate</a:t>
            </a:r>
            <a:r>
              <a:rPr lang="en-US" sz="1200" dirty="0"/>
              <a:t>",</a:t>
            </a:r>
          </a:p>
          <a:p>
            <a:pPr defTabSz="230188"/>
            <a:r>
              <a:rPr lang="en-US" sz="1200" dirty="0"/>
              <a:t>            	"@</a:t>
            </a:r>
            <a:r>
              <a:rPr lang="en-US" sz="1200" dirty="0" err="1"/>
              <a:t>Redfish.ActionInfo</a:t>
            </a:r>
            <a:r>
              <a:rPr lang="en-US" sz="1200" dirty="0"/>
              <a:t>": "/redfish/v1/</a:t>
            </a:r>
            <a:r>
              <a:rPr lang="en-US" sz="1200" dirty="0" err="1"/>
              <a:t>UpdateService</a:t>
            </a:r>
            <a:r>
              <a:rPr lang="en-US" sz="1200" dirty="0"/>
              <a:t>/</a:t>
            </a:r>
            <a:r>
              <a:rPr lang="en-US" sz="1200" dirty="0" err="1"/>
              <a:t>SimpleUpdateActionInfo</a:t>
            </a:r>
            <a:r>
              <a:rPr lang="en-US" sz="1200" dirty="0"/>
              <a:t>"</a:t>
            </a:r>
          </a:p>
          <a:p>
            <a:pPr defTabSz="230188"/>
            <a:r>
              <a:rPr lang="en-US" sz="1200" dirty="0"/>
              <a:t>	}</a:t>
            </a:r>
          </a:p>
          <a:p>
            <a:pPr defTabSz="230188"/>
            <a:r>
              <a:rPr lang="en-US" sz="1200" dirty="0"/>
              <a:t>},</a:t>
            </a:r>
          </a:p>
        </p:txBody>
      </p:sp>
    </p:spTree>
    <p:extLst>
      <p:ext uri="{BB962C8B-B14F-4D97-AF65-F5344CB8AC3E}">
        <p14:creationId xmlns:p14="http://schemas.microsoft.com/office/powerpoint/2010/main" val="3335058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BBB64B-C134-4DF7-8634-3D31D2B3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Parameters for Simple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B1E4559-BCDA-49B6-87A4-587F437D4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If these parameters are in </a:t>
            </a:r>
            <a:r>
              <a:rPr lang="en-US" sz="2400" dirty="0" err="1"/>
              <a:t>SimpleUpdateActionInfo</a:t>
            </a:r>
            <a:r>
              <a:rPr lang="en-US" sz="2400" dirty="0"/>
              <a:t>, they can be included in the </a:t>
            </a:r>
            <a:r>
              <a:rPr lang="en-US" sz="2400" dirty="0" err="1"/>
              <a:t>SimpleUpdate</a:t>
            </a:r>
            <a:r>
              <a:rPr lang="en-US" sz="2400" dirty="0"/>
              <a:t> HTTP POST message</a:t>
            </a:r>
          </a:p>
          <a:p>
            <a:pPr lvl="1"/>
            <a:r>
              <a:rPr lang="en-US" sz="2400" b="1" dirty="0" err="1"/>
              <a:t>ImageURI</a:t>
            </a:r>
            <a:r>
              <a:rPr lang="en-US" sz="2400" dirty="0"/>
              <a:t> specifies the URI of the firmware update package</a:t>
            </a:r>
          </a:p>
          <a:p>
            <a:pPr lvl="1"/>
            <a:r>
              <a:rPr lang="en-US" sz="2400" b="1" dirty="0" err="1"/>
              <a:t>TransferProtocol</a:t>
            </a:r>
            <a:r>
              <a:rPr lang="en-US" sz="2400" dirty="0"/>
              <a:t> specifies the transfer protocol associated with the URI</a:t>
            </a:r>
          </a:p>
          <a:p>
            <a:pPr lvl="1"/>
            <a:r>
              <a:rPr lang="en-US" sz="2400" b="1" dirty="0"/>
              <a:t>Targets</a:t>
            </a:r>
            <a:r>
              <a:rPr lang="en-US" sz="2400" dirty="0"/>
              <a:t> specifies a list of resources which are to be updated with the firmware update image</a:t>
            </a:r>
          </a:p>
          <a:p>
            <a:pPr lvl="1"/>
            <a:r>
              <a:rPr lang="en-US" sz="2400" b="1" dirty="0"/>
              <a:t>User</a:t>
            </a:r>
            <a:r>
              <a:rPr lang="en-US" sz="2400" dirty="0"/>
              <a:t> and </a:t>
            </a:r>
            <a:r>
              <a:rPr lang="en-US" sz="2400" b="1" dirty="0"/>
              <a:t>Passwor</a:t>
            </a:r>
            <a:r>
              <a:rPr lang="en-US" sz="2400" dirty="0"/>
              <a:t>d specify the credentials for accessing the firmware update package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5A97C37-1E24-443B-91AB-F9F5860E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6706A5-454B-4595-A4F6-79AF1E9F4663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49730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Multi-part HTTP Push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FED6F1-A72A-484D-80A4-F7DA49B68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00200"/>
            <a:ext cx="8534400" cy="2819400"/>
          </a:xfrm>
        </p:spPr>
        <p:txBody>
          <a:bodyPr/>
          <a:lstStyle/>
          <a:p>
            <a:r>
              <a:rPr lang="en-US" dirty="0"/>
              <a:t>Below is the fragment present in the </a:t>
            </a:r>
            <a:r>
              <a:rPr lang="en-US" dirty="0" err="1"/>
              <a:t>UpdateService</a:t>
            </a:r>
            <a:r>
              <a:rPr lang="en-US" dirty="0"/>
              <a:t> resource when the Multi-part HTTP Push Update action is supported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'</a:t>
            </a:r>
            <a:r>
              <a:rPr lang="en-US" dirty="0" err="1"/>
              <a:t>MultipartHttpPushURI</a:t>
            </a:r>
            <a:r>
              <a:rPr lang="en-US" dirty="0"/>
              <a:t>' property specifies the target of a HTTP POST</a:t>
            </a:r>
          </a:p>
          <a:p>
            <a:r>
              <a:rPr lang="en-US" dirty="0"/>
              <a:t>The content of the multi-part message is described below</a:t>
            </a:r>
          </a:p>
        </p:txBody>
      </p:sp>
      <p:sp>
        <p:nvSpPr>
          <p:cNvPr id="2" name="Rectangle 1"/>
          <p:cNvSpPr/>
          <p:nvPr/>
        </p:nvSpPr>
        <p:spPr>
          <a:xfrm>
            <a:off x="609600" y="2438400"/>
            <a:ext cx="7848600" cy="7386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defTabSz="230188"/>
            <a:r>
              <a:rPr lang="en-US" sz="1400" dirty="0"/>
              <a:t>{</a:t>
            </a:r>
          </a:p>
          <a:p>
            <a:pPr defTabSz="230188"/>
            <a:r>
              <a:rPr lang="en-US" sz="1400" dirty="0"/>
              <a:t>	"</a:t>
            </a:r>
            <a:r>
              <a:rPr lang="en-US" sz="1400" dirty="0" err="1"/>
              <a:t>MultipartHttpPushUri</a:t>
            </a:r>
            <a:r>
              <a:rPr lang="en-US" sz="1400" dirty="0"/>
              <a:t>": "/redfish/v1/</a:t>
            </a:r>
            <a:r>
              <a:rPr lang="en-US" sz="1400" dirty="0" err="1"/>
              <a:t>UpdateService</a:t>
            </a:r>
            <a:r>
              <a:rPr lang="en-US" sz="1400" dirty="0"/>
              <a:t>/update-multipart"</a:t>
            </a:r>
          </a:p>
          <a:p>
            <a:pPr defTabSz="230188"/>
            <a:r>
              <a:rPr lang="en-US" sz="1400" dirty="0"/>
              <a:t>}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xmlns="" id="{40B80663-02A8-479A-AEC7-DBA41B780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914098"/>
              </p:ext>
            </p:extLst>
          </p:nvPr>
        </p:nvGraphicFramePr>
        <p:xfrm>
          <a:off x="609600" y="4648200"/>
          <a:ext cx="7924800" cy="1772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21284">
                  <a:extLst>
                    <a:ext uri="{9D8B030D-6E8A-4147-A177-3AD203B41FA5}">
                      <a16:colId xmlns:a16="http://schemas.microsoft.com/office/drawing/2014/main" xmlns="" val="731217150"/>
                    </a:ext>
                  </a:extLst>
                </a:gridCol>
                <a:gridCol w="1200728">
                  <a:extLst>
                    <a:ext uri="{9D8B030D-6E8A-4147-A177-3AD203B41FA5}">
                      <a16:colId xmlns:a16="http://schemas.microsoft.com/office/drawing/2014/main" xmlns="" val="3664114209"/>
                    </a:ext>
                  </a:extLst>
                </a:gridCol>
                <a:gridCol w="4602788">
                  <a:extLst>
                    <a:ext uri="{9D8B030D-6E8A-4147-A177-3AD203B41FA5}">
                      <a16:colId xmlns:a16="http://schemas.microsoft.com/office/drawing/2014/main" xmlns="" val="730585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Form</a:t>
                      </a:r>
                    </a:p>
                  </a:txBody>
                  <a:tcPr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Req'd</a:t>
                      </a:r>
                      <a:endParaRPr lang="en-US" sz="1600" b="1" dirty="0"/>
                    </a:p>
                  </a:txBody>
                  <a:tcPr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Description</a:t>
                      </a:r>
                    </a:p>
                  </a:txBody>
                  <a:tcPr>
                    <a:solidFill>
                      <a:schemeClr val="accent5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93828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Update parameters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JSON-formatted part for passing the update parameters. See "</a:t>
                      </a:r>
                      <a:r>
                        <a:rPr lang="en-US" sz="1600" dirty="0" err="1"/>
                        <a:t>UpdateParameters</a:t>
                      </a:r>
                      <a:r>
                        <a:rPr lang="en-US" sz="1600" dirty="0"/>
                        <a:t>" property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93212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Update image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Binary file to use for the update.  The value of the `filename` field reflects the name of the file as loaded by the client. |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52362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1330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Example: multipart HTTP push update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F669A28-F8BE-4F6C-BD82-0D941F685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5257798"/>
            <a:ext cx="8534400" cy="914401"/>
          </a:xfrm>
        </p:spPr>
        <p:txBody>
          <a:bodyPr/>
          <a:lstStyle/>
          <a:p>
            <a:r>
              <a:rPr lang="en-US" dirty="0"/>
              <a:t>Note: the </a:t>
            </a:r>
            <a:r>
              <a:rPr lang="en-US" dirty="0" err="1"/>
              <a:t>UpdateFile</a:t>
            </a:r>
            <a:r>
              <a:rPr lang="en-US" dirty="0"/>
              <a:t> can contain one or more firmware images</a:t>
            </a:r>
          </a:p>
        </p:txBody>
      </p:sp>
      <p:sp>
        <p:nvSpPr>
          <p:cNvPr id="2" name="Rectangle 1"/>
          <p:cNvSpPr/>
          <p:nvPr/>
        </p:nvSpPr>
        <p:spPr>
          <a:xfrm>
            <a:off x="666750" y="1767006"/>
            <a:ext cx="7810500" cy="33239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defTabSz="230188"/>
            <a:r>
              <a:rPr lang="en-US" sz="1400" dirty="0"/>
              <a:t>POST /redfish/v1/</a:t>
            </a:r>
            <a:r>
              <a:rPr lang="en-US" sz="1400" dirty="0" err="1"/>
              <a:t>UpdateService</a:t>
            </a:r>
            <a:r>
              <a:rPr lang="en-US" sz="1400" dirty="0"/>
              <a:t>/update-multipart HTTP/1.1</a:t>
            </a:r>
          </a:p>
          <a:p>
            <a:pPr defTabSz="230188"/>
            <a:r>
              <a:rPr lang="en-US" sz="1400" dirty="0"/>
              <a:t>Content-Type: multipart/form-data; boundary=---------------------------d74496d66958873e</a:t>
            </a:r>
          </a:p>
          <a:p>
            <a:pPr defTabSz="230188"/>
            <a:r>
              <a:rPr lang="en-US" sz="1400" dirty="0"/>
              <a:t>Content-Length: &lt;computed-length&gt;</a:t>
            </a:r>
          </a:p>
          <a:p>
            <a:pPr defTabSz="230188"/>
            <a:endParaRPr lang="en-US" sz="1400" dirty="0"/>
          </a:p>
          <a:p>
            <a:pPr defTabSz="230188"/>
            <a:r>
              <a:rPr lang="en-US" sz="1400" dirty="0"/>
              <a:t>-----------------------------d74496d66958873e</a:t>
            </a:r>
          </a:p>
          <a:p>
            <a:pPr defTabSz="230188"/>
            <a:r>
              <a:rPr lang="en-US" sz="1400" dirty="0"/>
              <a:t>Content-Disposition: form-data; name="</a:t>
            </a:r>
            <a:r>
              <a:rPr lang="en-US" sz="1400" dirty="0" err="1"/>
              <a:t>UpdateParameters</a:t>
            </a:r>
            <a:r>
              <a:rPr lang="en-US" sz="1400" dirty="0"/>
              <a:t>"</a:t>
            </a:r>
          </a:p>
          <a:p>
            <a:pPr defTabSz="230188"/>
            <a:r>
              <a:rPr lang="en-US" sz="1400" dirty="0"/>
              <a:t>Content-Type: application/json</a:t>
            </a:r>
          </a:p>
          <a:p>
            <a:pPr defTabSz="230188"/>
            <a:endParaRPr lang="en-US" sz="1400" dirty="0"/>
          </a:p>
          <a:p>
            <a:pPr defTabSz="230188"/>
            <a:r>
              <a:rPr lang="en-US" sz="1400" dirty="0"/>
              <a:t>{}</a:t>
            </a:r>
          </a:p>
          <a:p>
            <a:pPr defTabSz="230188"/>
            <a:endParaRPr lang="en-US" sz="1400" dirty="0"/>
          </a:p>
          <a:p>
            <a:pPr defTabSz="230188"/>
            <a:r>
              <a:rPr lang="en-US" sz="1400" dirty="0"/>
              <a:t>-----------------------------d74496d66958873e</a:t>
            </a:r>
          </a:p>
          <a:p>
            <a:pPr defTabSz="230188"/>
            <a:r>
              <a:rPr lang="en-US" sz="1400" dirty="0"/>
              <a:t>Content-Disposition: form-data; name="</a:t>
            </a:r>
            <a:r>
              <a:rPr lang="en-US" sz="1400" dirty="0" err="1"/>
              <a:t>UpdateFile</a:t>
            </a:r>
            <a:r>
              <a:rPr lang="en-US" sz="1400" dirty="0"/>
              <a:t>"; filename="</a:t>
            </a:r>
            <a:r>
              <a:rPr lang="en-US" sz="1400" dirty="0" err="1"/>
              <a:t>bmc_update.bin</a:t>
            </a:r>
            <a:r>
              <a:rPr lang="en-US" sz="1400" dirty="0"/>
              <a:t>"</a:t>
            </a:r>
          </a:p>
          <a:p>
            <a:pPr defTabSz="230188"/>
            <a:r>
              <a:rPr lang="en-US" sz="1400" dirty="0"/>
              <a:t>Content-Type: application/octet-stream</a:t>
            </a:r>
          </a:p>
          <a:p>
            <a:pPr defTabSz="230188"/>
            <a:endParaRPr lang="en-US" sz="1400" dirty="0"/>
          </a:p>
          <a:p>
            <a:pPr defTabSz="230188"/>
            <a:r>
              <a:rPr lang="en-US" sz="1400" dirty="0"/>
              <a:t>&lt;firmware image&gt;</a:t>
            </a:r>
          </a:p>
        </p:txBody>
      </p:sp>
    </p:spTree>
    <p:extLst>
      <p:ext uri="{BB962C8B-B14F-4D97-AF65-F5344CB8AC3E}">
        <p14:creationId xmlns:p14="http://schemas.microsoft.com/office/powerpoint/2010/main" val="1524389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Unstructured HTTP Push Update - deprecated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FED6F1-A72A-484D-80A4-F7DA49B68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Below is the fragment present in the </a:t>
            </a:r>
            <a:r>
              <a:rPr lang="en-US" dirty="0" err="1"/>
              <a:t>UpdateService</a:t>
            </a:r>
            <a:r>
              <a:rPr lang="en-US" dirty="0"/>
              <a:t> resource when the Unstructured HTTP push update is supported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Due to the vendor-specific details of this operation, this method was deprecated in favor of multipart HTTP push update</a:t>
            </a:r>
          </a:p>
        </p:txBody>
      </p:sp>
      <p:sp>
        <p:nvSpPr>
          <p:cNvPr id="2" name="Rectangle 1"/>
          <p:cNvSpPr/>
          <p:nvPr/>
        </p:nvSpPr>
        <p:spPr>
          <a:xfrm>
            <a:off x="609600" y="2438400"/>
            <a:ext cx="7848600" cy="267765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defTabSz="230188"/>
            <a:r>
              <a:rPr lang="en-US" sz="1200" dirty="0"/>
              <a:t>{</a:t>
            </a:r>
          </a:p>
          <a:p>
            <a:pPr defTabSz="230188"/>
            <a:r>
              <a:rPr lang="en-US" sz="1200" dirty="0"/>
              <a:t>  	"</a:t>
            </a:r>
            <a:r>
              <a:rPr lang="en-US" sz="1200" dirty="0" err="1"/>
              <a:t>HttpPushUri</a:t>
            </a:r>
            <a:r>
              <a:rPr lang="en-US" sz="1200" dirty="0"/>
              <a:t>": "/redfish/v1/</a:t>
            </a:r>
            <a:r>
              <a:rPr lang="en-US" sz="1200" dirty="0" err="1"/>
              <a:t>UpdateService</a:t>
            </a:r>
            <a:r>
              <a:rPr lang="en-US" sz="1200" dirty="0"/>
              <a:t>/update",</a:t>
            </a:r>
          </a:p>
          <a:p>
            <a:pPr defTabSz="230188"/>
            <a:r>
              <a:rPr lang="en-US" sz="1200" dirty="0"/>
              <a:t>    	"</a:t>
            </a:r>
            <a:r>
              <a:rPr lang="en-US" sz="1200" dirty="0" err="1"/>
              <a:t>HttpPushUriTargets</a:t>
            </a:r>
            <a:r>
              <a:rPr lang="en-US" sz="1200" dirty="0"/>
              <a:t>": [],</a:t>
            </a:r>
          </a:p>
          <a:p>
            <a:pPr defTabSz="230188"/>
            <a:r>
              <a:rPr lang="en-US" sz="1200" dirty="0"/>
              <a:t>    	"</a:t>
            </a:r>
            <a:r>
              <a:rPr lang="en-US" sz="1200" dirty="0" err="1"/>
              <a:t>HttpPushUriTargetsBusy</a:t>
            </a:r>
            <a:r>
              <a:rPr lang="en-US" sz="1200" dirty="0"/>
              <a:t>": false,</a:t>
            </a:r>
          </a:p>
          <a:p>
            <a:pPr defTabSz="230188"/>
            <a:r>
              <a:rPr lang="en-US" sz="1200" dirty="0"/>
              <a:t>    	"</a:t>
            </a:r>
            <a:r>
              <a:rPr lang="en-US" sz="1200" dirty="0" err="1"/>
              <a:t>HttpPushUriOptions</a:t>
            </a:r>
            <a:r>
              <a:rPr lang="en-US" sz="1200" dirty="0"/>
              <a:t>": {</a:t>
            </a:r>
          </a:p>
          <a:p>
            <a:pPr defTabSz="230188"/>
            <a:r>
              <a:rPr lang="en-US" sz="1200" dirty="0"/>
              <a:t>        	"</a:t>
            </a:r>
            <a:r>
              <a:rPr lang="en-US" sz="1200" dirty="0" err="1"/>
              <a:t>HttpPushUriApplyTime</a:t>
            </a:r>
            <a:r>
              <a:rPr lang="en-US" sz="1200" dirty="0"/>
              <a:t>": {</a:t>
            </a:r>
          </a:p>
          <a:p>
            <a:pPr defTabSz="230188"/>
            <a:r>
              <a:rPr lang="en-US" sz="1200" dirty="0"/>
              <a:t>			"</a:t>
            </a:r>
            <a:r>
              <a:rPr lang="en-US" sz="1200" dirty="0" err="1"/>
              <a:t>ApplyTime</a:t>
            </a:r>
            <a:r>
              <a:rPr lang="en-US" sz="1200" dirty="0"/>
              <a:t>": "Immediate",</a:t>
            </a:r>
          </a:p>
          <a:p>
            <a:pPr defTabSz="230188"/>
            <a:r>
              <a:rPr lang="en-US" sz="1200" dirty="0"/>
              <a:t>			"</a:t>
            </a:r>
            <a:r>
              <a:rPr lang="en-US" sz="1200" dirty="0" err="1"/>
              <a:t>MaintenanceWindowStartTime</a:t>
            </a:r>
            <a:r>
              <a:rPr lang="en-US" sz="1200" dirty="0"/>
              <a:t>": "2018-12-01T03:00:00+06:00",</a:t>
            </a:r>
          </a:p>
          <a:p>
            <a:pPr defTabSz="230188"/>
            <a:r>
              <a:rPr lang="en-US" sz="1200" dirty="0"/>
              <a:t>           	"</a:t>
            </a:r>
            <a:r>
              <a:rPr lang="en-US" sz="1200" dirty="0" err="1"/>
              <a:t>MaintenanceWindowDurationInSeconds</a:t>
            </a:r>
            <a:r>
              <a:rPr lang="en-US" sz="1200" dirty="0"/>
              <a:t>": 600</a:t>
            </a:r>
          </a:p>
          <a:p>
            <a:pPr defTabSz="230188"/>
            <a:r>
              <a:rPr lang="en-US" sz="1200" dirty="0"/>
              <a:t>      	 }</a:t>
            </a:r>
          </a:p>
          <a:p>
            <a:pPr defTabSz="230188"/>
            <a:r>
              <a:rPr lang="en-US" sz="1200" dirty="0"/>
              <a:t>   	},</a:t>
            </a:r>
          </a:p>
          <a:p>
            <a:pPr defTabSz="230188"/>
            <a:r>
              <a:rPr lang="en-US" sz="1200" dirty="0"/>
              <a:t>    	"</a:t>
            </a:r>
            <a:r>
              <a:rPr lang="en-US" sz="1200" dirty="0" err="1"/>
              <a:t>HttpPushUriOptionsBusy</a:t>
            </a:r>
            <a:r>
              <a:rPr lang="en-US" sz="1200" dirty="0"/>
              <a:t>": false,</a:t>
            </a:r>
          </a:p>
          <a:p>
            <a:pPr defTabSz="230188"/>
            <a:r>
              <a:rPr lang="en-US" sz="1200" dirty="0"/>
              <a:t>    	...</a:t>
            </a:r>
          </a:p>
          <a:p>
            <a:pPr defTabSz="230188"/>
            <a:r>
              <a:rPr lang="en-US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45121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u="sng" dirty="0"/>
              <a:t>Thank you for watching!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9688" y="1667950"/>
            <a:ext cx="3795712" cy="2675450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307975" y="1704975"/>
            <a:ext cx="5407025" cy="4343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>
                <a:solidFill>
                  <a:srgbClr val="1B1F95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>
                <a:solidFill>
                  <a:srgbClr val="5B5B5B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1600">
                <a:solidFill>
                  <a:srgbClr val="1B1F95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1400">
                <a:solidFill>
                  <a:srgbClr val="5B5B5B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1400">
                <a:solidFill>
                  <a:srgbClr val="1B1F95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48" charset="0"/>
              <a:buChar char="•"/>
              <a:defRPr sz="1400">
                <a:solidFill>
                  <a:srgbClr val="1B1F95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48" charset="0"/>
              <a:buChar char="•"/>
              <a:defRPr sz="1400">
                <a:solidFill>
                  <a:srgbClr val="1B1F95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48" charset="0"/>
              <a:buChar char="•"/>
              <a:defRPr sz="1400">
                <a:solidFill>
                  <a:srgbClr val="1B1F95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48" charset="0"/>
              <a:buChar char="•"/>
              <a:defRPr sz="1400">
                <a:solidFill>
                  <a:srgbClr val="1B1F95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US" altLang="en-US" sz="2400" kern="0" dirty="0"/>
              <a:t>Redfish Community</a:t>
            </a:r>
          </a:p>
          <a:p>
            <a:pPr lvl="1">
              <a:defRPr/>
            </a:pPr>
            <a:r>
              <a:rPr lang="en-US" altLang="en-US" sz="1800" kern="0" dirty="0"/>
              <a:t>Bulletin board</a:t>
            </a:r>
          </a:p>
          <a:p>
            <a:pPr lvl="1">
              <a:defRPr/>
            </a:pPr>
            <a:r>
              <a:rPr lang="en-US" altLang="en-US" sz="1800" kern="0" dirty="0">
                <a:solidFill>
                  <a:schemeClr val="accent2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http://redfishforum.com</a:t>
            </a:r>
            <a:endParaRPr lang="en-US" altLang="en-US" sz="1800" kern="0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defRPr/>
            </a:pPr>
            <a:r>
              <a:rPr lang="en-US" altLang="en-US" sz="2400" kern="0" dirty="0"/>
              <a:t>Redfish Developer Hub</a:t>
            </a:r>
          </a:p>
          <a:p>
            <a:pPr lvl="1">
              <a:defRPr/>
            </a:pPr>
            <a:r>
              <a:rPr lang="en-US" altLang="en-US" sz="1800" dirty="0"/>
              <a:t>Redfish Explorer, Hosted schema at Namespace, Educational Material</a:t>
            </a:r>
          </a:p>
          <a:p>
            <a:pPr lvl="1">
              <a:defRPr/>
            </a:pPr>
            <a:r>
              <a:rPr lang="en-US" altLang="en-US" sz="1800" u="sng" dirty="0">
                <a:solidFill>
                  <a:srgbClr val="CCCCFF">
                    <a:lumMod val="50000"/>
                  </a:srgbClr>
                </a:solidFill>
              </a:rPr>
              <a:t>http://redfish.dmtf.org</a:t>
            </a:r>
          </a:p>
          <a:p>
            <a:pPr>
              <a:defRPr/>
            </a:pPr>
            <a:r>
              <a:rPr lang="en-US" sz="2400" dirty="0"/>
              <a:t>Redfish Forum</a:t>
            </a:r>
          </a:p>
          <a:p>
            <a:pPr lvl="1">
              <a:defRPr/>
            </a:pPr>
            <a:r>
              <a:rPr lang="en-US" sz="1800" dirty="0"/>
              <a:t>Schemas, Specs, Mockups, White Papers,  FAQ &amp; more</a:t>
            </a:r>
          </a:p>
          <a:p>
            <a:pPr lvl="1">
              <a:defRPr/>
            </a:pPr>
            <a:r>
              <a:rPr lang="en-US" altLang="en-US" sz="1800" u="sng" dirty="0">
                <a:solidFill>
                  <a:srgbClr val="CCCCFF">
                    <a:lumMod val="50000"/>
                  </a:srgbClr>
                </a:solidFill>
              </a:rPr>
              <a:t>http://www.dmtf.org/redfish</a:t>
            </a:r>
            <a:endParaRPr lang="en-US" sz="1800" u="sng" dirty="0">
              <a:solidFill>
                <a:srgbClr val="CCCC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92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Blank Presentatio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CCFF"/>
      </a:accent1>
      <a:accent2>
        <a:srgbClr val="CCCC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B9B9E7"/>
      </a:accent6>
      <a:hlink>
        <a:srgbClr val="595959"/>
      </a:hlink>
      <a:folHlink>
        <a:srgbClr val="AF67FF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33986</TotalTime>
  <Words>508</Words>
  <Application>Microsoft Office PowerPoint</Application>
  <PresentationFormat>On-screen Show (4:3)</PresentationFormat>
  <Paragraphs>131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ＭＳ Ｐゴシック</vt:lpstr>
      <vt:lpstr>Arial</vt:lpstr>
      <vt:lpstr>Calibri</vt:lpstr>
      <vt:lpstr>HP Simplified</vt:lpstr>
      <vt:lpstr>Times</vt:lpstr>
      <vt:lpstr>Verdana</vt:lpstr>
      <vt:lpstr>Blank Presentation</vt:lpstr>
      <vt:lpstr>Office Theme</vt:lpstr>
      <vt:lpstr>Firmware Update</vt:lpstr>
      <vt:lpstr>Agenda</vt:lpstr>
      <vt:lpstr>Redfish Firmware Update Model</vt:lpstr>
      <vt:lpstr>Firmware Package Transfer Methods</vt:lpstr>
      <vt:lpstr>Simple Update - pull update</vt:lpstr>
      <vt:lpstr>Parameters for Simple Update</vt:lpstr>
      <vt:lpstr>Multi-part HTTP Push Update</vt:lpstr>
      <vt:lpstr>Example: multipart HTTP push update request</vt:lpstr>
      <vt:lpstr>Unstructured HTTP Push Update - deprecated</vt:lpstr>
      <vt:lpstr>Thank you for watching!</vt:lpstr>
    </vt:vector>
  </TitlesOfParts>
  <Company>Rhea Bishop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Redfish Security</dc:title>
  <dc:creator>Rhea Bishop</dc:creator>
  <cp:keywords>No Restrictions, CTPClassification=CTP_NT</cp:keywords>
  <cp:lastModifiedBy>Donze, Francois</cp:lastModifiedBy>
  <cp:revision>436</cp:revision>
  <dcterms:created xsi:type="dcterms:W3CDTF">2007-11-16T22:00:25Z</dcterms:created>
  <dcterms:modified xsi:type="dcterms:W3CDTF">2020-09-22T06:07:49Z</dcterms:modified>
  <cp:category>Educational Series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32cb6aa9-a0a8-44b8-937b-422a512c99c9</vt:lpwstr>
  </property>
  <property fmtid="{D5CDD505-2E9C-101B-9397-08002B2CF9AE}" pid="3" name="DellClassification">
    <vt:lpwstr>No Restrictions</vt:lpwstr>
  </property>
  <property fmtid="{D5CDD505-2E9C-101B-9397-08002B2CF9AE}" pid="4" name="DellSubLabels">
    <vt:lpwstr/>
  </property>
  <property fmtid="{D5CDD505-2E9C-101B-9397-08002B2CF9AE}" pid="5" name="Document Creator">
    <vt:lpwstr/>
  </property>
  <property fmtid="{D5CDD505-2E9C-101B-9397-08002B2CF9AE}" pid="6" name="Document Editor">
    <vt:lpwstr/>
  </property>
  <property fmtid="{D5CDD505-2E9C-101B-9397-08002B2CF9AE}" pid="7" name="Classification">
    <vt:lpwstr>No Restrictions</vt:lpwstr>
  </property>
  <property fmtid="{D5CDD505-2E9C-101B-9397-08002B2CF9AE}" pid="8" name="Sublabels">
    <vt:lpwstr/>
  </property>
  <property fmtid="{D5CDD505-2E9C-101B-9397-08002B2CF9AE}" pid="9" name="CTP_TimeStamp">
    <vt:lpwstr>2020-01-17 00:03:51Z</vt:lpwstr>
  </property>
  <property fmtid="{D5CDD505-2E9C-101B-9397-08002B2CF9AE}" pid="10" name="CTP_BU">
    <vt:lpwstr>NA</vt:lpwstr>
  </property>
  <property fmtid="{D5CDD505-2E9C-101B-9397-08002B2CF9AE}" pid="11" name="CTP_IDSID">
    <vt:lpwstr>NA</vt:lpwstr>
  </property>
  <property fmtid="{D5CDD505-2E9C-101B-9397-08002B2CF9AE}" pid="12" name="CTP_WWID">
    <vt:lpwstr>NA</vt:lpwstr>
  </property>
  <property fmtid="{D5CDD505-2E9C-101B-9397-08002B2CF9AE}" pid="13" name="CTPClassification">
    <vt:lpwstr>CTP_NT</vt:lpwstr>
  </property>
</Properties>
</file>